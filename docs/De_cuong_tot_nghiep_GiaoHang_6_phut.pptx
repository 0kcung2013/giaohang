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3f7ba2e6024e1a" /><Relationship Type="http://schemas.openxmlformats.org/officeDocument/2006/relationships/extended-properties" Target="/docProps/app.xml" Id="R310e765b992846d5" /><Relationship Type="http://schemas.openxmlformats.org/officeDocument/2006/relationships/officeDocument" Target="/ppt/presentation.xml" Id="R5442097941a24419" /></Relationships>
</file>

<file path=ppt/presentation.xml><?xml version="1.0" encoding="utf-8"?>
<p:presentation xmlns:p="http://schemas.openxmlformats.org/presentationml/2006/main">
  <p:sldMasterIdLst>
    <p:sldMasterId xmlns:r="http://schemas.openxmlformats.org/officeDocument/2006/relationships" id="2147483648" r:id="R81725815d4354707"/>
  </p:sldMasterIdLst>
  <p:notesMasterIdLst>
    <p:notesMasterId xmlns:r="http://schemas.openxmlformats.org/officeDocument/2006/relationships" r:id="Rcf55fffeef06483e"/>
  </p:notesMasterIdLst>
  <p:sldIdLst>
    <p:sldId xmlns:r="http://schemas.openxmlformats.org/officeDocument/2006/relationships" id="256" r:id="R5b846445c8b9420e"/>
    <p:sldId xmlns:r="http://schemas.openxmlformats.org/officeDocument/2006/relationships" id="257" r:id="R2a1b42a074ea453f"/>
    <p:sldId xmlns:r="http://schemas.openxmlformats.org/officeDocument/2006/relationships" id="258" r:id="R1a7e4694d9ed4f01"/>
    <p:sldId xmlns:r="http://schemas.openxmlformats.org/officeDocument/2006/relationships" id="259" r:id="Rc502e9cc0efa489b"/>
    <p:sldId xmlns:r="http://schemas.openxmlformats.org/officeDocument/2006/relationships" id="260" r:id="R28420ef704224f75"/>
    <p:sldId xmlns:r="http://schemas.openxmlformats.org/officeDocument/2006/relationships" id="261" r:id="R79683fa893cb4a0a"/>
    <p:sldId xmlns:r="http://schemas.openxmlformats.org/officeDocument/2006/relationships" id="262" r:id="Rad32780a52d34e5f"/>
    <p:sldId xmlns:r="http://schemas.openxmlformats.org/officeDocument/2006/relationships" id="263" r:id="Rce4b95a4c96545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460cac3c674938" /><Relationship Type="http://schemas.openxmlformats.org/officeDocument/2006/relationships/slideMaster" Target="/ppt/slideMasters/slideMaster1.xml" Id="R81725815d4354707" /><Relationship Type="http://schemas.openxmlformats.org/officeDocument/2006/relationships/notesMaster" Target="/ppt/notesMasters/notesMaster1.xml" Id="Rcf55fffeef06483e" /><Relationship Type="http://schemas.openxmlformats.org/officeDocument/2006/relationships/presProps" Target="/ppt/presProps.xml" Id="Re574e05b580d4630" /><Relationship Type="http://schemas.openxmlformats.org/officeDocument/2006/relationships/tableStyles" Target="/ppt/tableStyles.xml" Id="R3842715591274f5c" /><Relationship Type="http://schemas.openxmlformats.org/officeDocument/2006/relationships/slide" Target="/ppt/slides/slide1.xml" Id="R5b846445c8b9420e" /><Relationship Type="http://schemas.openxmlformats.org/officeDocument/2006/relationships/slide" Target="/ppt/slides/slide2.xml" Id="R2a1b42a074ea453f" /><Relationship Type="http://schemas.openxmlformats.org/officeDocument/2006/relationships/slide" Target="/ppt/slides/slide3.xml" Id="R1a7e4694d9ed4f01" /><Relationship Type="http://schemas.openxmlformats.org/officeDocument/2006/relationships/slide" Target="/ppt/slides/slide4.xml" Id="Rc502e9cc0efa489b" /><Relationship Type="http://schemas.openxmlformats.org/officeDocument/2006/relationships/slide" Target="/ppt/slides/slide5.xml" Id="R28420ef704224f75" /><Relationship Type="http://schemas.openxmlformats.org/officeDocument/2006/relationships/slide" Target="/ppt/slides/slide6.xml" Id="R79683fa893cb4a0a" /><Relationship Type="http://schemas.openxmlformats.org/officeDocument/2006/relationships/slide" Target="/ppt/slides/slide7.xml" Id="Rad32780a52d34e5f" /><Relationship Type="http://schemas.openxmlformats.org/officeDocument/2006/relationships/slide" Target="/ppt/slides/slide8.xml" Id="Rce4b95a4c96545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e3c6d1e57148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a173ddff544a5a" /><Relationship Type="http://schemas.openxmlformats.org/officeDocument/2006/relationships/notesMaster" Target="/ppt/notesMasters/notesMaster1.xml" Id="R04b3a574451f47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79638420634d66" /><Relationship Type="http://schemas.openxmlformats.org/officeDocument/2006/relationships/notesMaster" Target="/ppt/notesMasters/notesMaster1.xml" Id="R5cd789bc350c42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2ee51ad81f483a" /><Relationship Type="http://schemas.openxmlformats.org/officeDocument/2006/relationships/notesMaster" Target="/ppt/notesMasters/notesMaster1.xml" Id="Rc29289ff94694f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05f1baac7e4950" /><Relationship Type="http://schemas.openxmlformats.org/officeDocument/2006/relationships/notesMaster" Target="/ppt/notesMasters/notesMaster1.xml" Id="R57138ddad9764e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439944490c4f26" /><Relationship Type="http://schemas.openxmlformats.org/officeDocument/2006/relationships/notesMaster" Target="/ppt/notesMasters/notesMaster1.xml" Id="Re98cd4240cd049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259c11f94d4cec" /><Relationship Type="http://schemas.openxmlformats.org/officeDocument/2006/relationships/notesMaster" Target="/ppt/notesMasters/notesMaster1.xml" Id="Rf5fcd31159d84e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4e94dde0b94819" /><Relationship Type="http://schemas.openxmlformats.org/officeDocument/2006/relationships/notesMaster" Target="/ppt/notesMasters/notesMaster1.xml" Id="R1968baccf1c04d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53f5ba85044a52" /><Relationship Type="http://schemas.openxmlformats.org/officeDocument/2006/relationships/notesMaster" Target="/ppt/notesMasters/notesMaster1.xml" Id="R0f226655305f49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thưa thầy cô, đề tài em đăng ký là “Xây dựng ứng dụng quản lý giao hàng thông minh hỗ trợ theo dõi vị trí thời gian thực và dự đoán thời gian giao hàng”.</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Về mục tiêu nghiên cứu, đề tài hướng đến xây dựng hệ thống quản lý giao hàng đa nền tảng, hỗ trợ quản lý quy trình giao nhận, phân công tài xế theo khoảng cách, theo dõi vị trí thời gian thực và ước tính thời gian giao hàng dự kiến. Hệ thống phục vụ bốn nhóm người dùng: khách hàng, tài xế, nhân viên chăm sóc khách hàng và quản trị viên.</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khách hàng tạo đơn, hệ thống tìm tài xế đã được duyệt, đang sẵn sàng, có GPS còn hiệu lực, chưa có đơn đang hoạt động và nằm trong bán kính mặc định 5 km. Đơn được đề xuất cho tài xế gần nhất. Nếu tài xế chuyển đơn hoặc hết thời gian phản hồi, hệ thống chuyển sang người phù hợp tiếp theo. Nếu hết ứng viên, đơn tiếp tục chờ để phân công lại.</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tài xế chỉ xử lý một đơn đang hoạt động tại một thời điểm. Việc nhận đơn được xử lý phía máy chủ để khi nhiều tài xế cùng yêu cầu nhận một đơn thì chỉ một người thành công. Hệ thống ưu tiên khoảng cách; nếu khoảng cách bằng nhau thì user_id chỉ được dùng làm tiêu chí phụ ổn định. Rating và số đơn đã giao chưa tham gia xếp hạng trong phạm vi MVP.</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a:p xmlns:a="http://schemas.openxmlformats.org/drawingml/2006/main">
            <a:r>
              <a:t>- D:/study/DATN/GiaoHang/AGENTS.md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khi nhận đơn, hệ thống hiển thị lộ trình đến điểm lấy và điểm giao. ETA được ước tính từ thời lượng tuyến đường, GPS, trạng thái đơn và thời gian đệm; được cập nhật khi vị trí hoặc trạng thái thay đổi. Phân công và ETA dựa trên quy tắc nghiệp vụ, dữ liệu định tuyến và GPS, không sử dụng trí tuệ nhân tạo.</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Hệ thống được xây dựng ở mức nguyên mẫu phục vụ nghiên cứu và thử nghiệm, tổ chức theo monorepo gồm hai ứng dụng dùng chung backend. Chức năng CSKH giới hạn ở tra cứu đơn và tiếp nhận yêu cầu. Đề tài chưa triển khai thanh toán trực tuyến, hoàn tiền, khiếu nại tài chính hoàn chỉnh, giao nhiều đơn đồng thời và chưa hướng đến thương mại quy mô lớn.</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Về phương pháp, đề tài khảo sát quy trình, phân tích yêu cầu, thiết kế kiến trúc, cơ sở dữ liệu, phân quyền và trạng thái đơn; sau đó phát triển từng phần và tích hợp. Hệ thống được đánh giá qua các kịch bản tạo đơn, tìm tài xế gần nhất, chuyển đơn tuần tự, nhiều tài xế cùng nhận, theo dõi vị trí, cập nhật ETA và hoàn thành giao hàng. Công nghệ gồm Flutter, Riverpod, GoRouter, Supabase, PostgreSQL, PostGIS, OpenStreetMap, flutter_map, Geolocator và OSRM.</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Về sản phẩm dự kiến, đề tài tạo ra hệ thống quản lý giao hàng đa nền tảng gồm các mô-đun cho bốn nhóm người dùng, hỗ trợ tạo đơn, phân công tài xế, nhận hoặc chuyển đơn, theo dõi vị trí thời gian thực, cập nhật ETA và hoàn thành giao hàng. Em xin hết phần trình bày. Em cảm ơn thầy cô đã lắng nghe.</a:t>
            </a:r>
          </a:p>
          <a:p xmlns:a="http://schemas.openxmlformats.org/drawingml/2006/main">
            <a:r>
              <a:t/>
            </a:r>
          </a:p>
          <a:p xmlns:a="http://schemas.openxmlformats.org/drawingml/2006/main">
            <a:r>
              <a:t>[Sources]</a:t>
            </a:r>
          </a:p>
          <a:p xmlns:a="http://schemas.openxmlformats.org/drawingml/2006/main">
            <a:r>
              <a:t>- D:/study/DATN/GiaoHang/docs/BAI_THUYET_TRINH_DE_CUONG_6_PHUT_FINAL.md</a:t>
            </a:r>
          </a:p>
          <a:p xmlns:a="http://schemas.openxmlformats.org/drawingml/2006/main">
            <a:r>
              <a:t>- D:/study/DATN/GiaoHang/docs/DE_CUONG_MUC_3_6_REVISED.md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bbb3fcae204d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73d2f34bb24b31" /><Relationship Type="http://schemas.openxmlformats.org/officeDocument/2006/relationships/slideLayout" Target="/ppt/slideLayouts/slideLayout1.xml" Id="R9b0447a534d249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0447a534d249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caa2cc93b04533" /><Relationship Type="http://schemas.openxmlformats.org/officeDocument/2006/relationships/notesSlide" Target="/ppt/notesSlides/notesSlide1.xml" Id="Rfc09f16c55374c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a012aa9067471a" /><Relationship Type="http://schemas.openxmlformats.org/officeDocument/2006/relationships/notesSlide" Target="/ppt/notesSlides/notesSlide2.xml" Id="Rca5d9c2a428b47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3fa267e97d423a" /><Relationship Type="http://schemas.openxmlformats.org/officeDocument/2006/relationships/notesSlide" Target="/ppt/notesSlides/notesSlide3.xml" Id="Raa6530d48fa543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b04168b62749d4" /><Relationship Type="http://schemas.openxmlformats.org/officeDocument/2006/relationships/notesSlide" Target="/ppt/notesSlides/notesSlide4.xml" Id="R27fd6ac20c064e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03c785d8724963" /><Relationship Type="http://schemas.openxmlformats.org/officeDocument/2006/relationships/notesSlide" Target="/ppt/notesSlides/notesSlide5.xml" Id="Rfb9c45e1c8f943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ee74abe89a4802" /><Relationship Type="http://schemas.openxmlformats.org/officeDocument/2006/relationships/notesSlide" Target="/ppt/notesSlides/notesSlide6.xml" Id="R57b3a918def544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862449631a424c" /><Relationship Type="http://schemas.openxmlformats.org/officeDocument/2006/relationships/notesSlide" Target="/ppt/notesSlides/notesSlide7.xml" Id="R1603284056c34f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46a9048f5c45bc" /><Relationship Type="http://schemas.openxmlformats.org/officeDocument/2006/relationships/notesSlide" Target="/ppt/notesSlides/notesSlide8.xml" Id="Ra99e281f178b4fe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CCC98C76-29FE-4F08-A56D-FEC8869CBCA3}"/>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0000"/>
              </a:lnSpc>
              <a:spcAft>
                <a:spcPts val="700"/>
              </a:spcAft>
              <a:buNone/>
              <a:defRPr sz="6000">
                <a:solidFill>
                  <a:srgbClr val="000000"/>
                </a:solidFill>
                <a:latin typeface="Helvetica Neue"/>
                <a:ea typeface="Helvetica Neue"/>
                <a:cs typeface="Helvetica Neue"/>
              </a:defRPr>
            </a:pPr>
            <a:r>
              <a:rPr sz="5400" b="1">
                <a:solidFill>
                  <a:srgbClr val="000000"/>
                </a:solidFill>
                <a:latin typeface="Arial"/>
                <a:ea typeface="Arial"/>
                <a:cs typeface="Arial"/>
              </a:rPr>
              <a:t>Ứng dụng quản lý
giao hàng thông minh</a:t>
            </a:r>
          </a:p>
        </p:txBody>
      </p:sp>
      <p:sp>
        <p:nvSpPr>
          <p:cNvPr id="2" name="Subtitle-4-2">
            <a:extLst xmlns:a="http://schemas.openxmlformats.org/drawingml/2006/main">
              <a:ext uri="{FF2B5EF4-FFF2-40B4-BE49-F238E27FC236}">
                <a16:creationId xmlns:a16="http://schemas.microsoft.com/office/drawing/2014/main" id="{0A0358F9-6267-4947-B829-3370B0C00B02}"/>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025" b="0">
                <a:solidFill>
                  <a:srgbClr val="000000"/>
                </a:solidFill>
                <a:latin typeface="Arial"/>
                <a:ea typeface="Arial"/>
                <a:cs typeface="Arial"/>
              </a:rPr>
              <a:t>Theo dõi vị trí thời gian thực
và ước tính thời gian giao hàng</a:t>
            </a:r>
          </a:p>
        </p:txBody>
      </p:sp>
      <p:sp>
        <p:nvSpPr>
          <p:cNvPr id="3" name="Subtitle-4-3">
            <a:extLst xmlns:a="http://schemas.openxmlformats.org/drawingml/2006/main">
              <a:ext uri="{FF2B5EF4-FFF2-40B4-BE49-F238E27FC236}">
                <a16:creationId xmlns:a16="http://schemas.microsoft.com/office/drawing/2014/main" id="{4C4844E4-8FE0-416D-B770-823AAD418E9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BÁO CÁO ĐỀ CƯƠNG TỐT NGHIỆP</a:t>
            </a:r>
          </a:p>
        </p:txBody>
      </p:sp>
      <p:sp>
        <p:nvSpPr>
          <p:cNvPr id="4" name="accent-cover">
            <a:extLst xmlns:a="http://schemas.openxmlformats.org/drawingml/2006/main">
              <a:ext uri="{FF2B5EF4-FFF2-40B4-BE49-F238E27FC236}">
                <a16:creationId xmlns:a16="http://schemas.microsoft.com/office/drawing/2014/main" id="{3F6C7047-4254-4883-AC1E-7D2ADFF1101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824026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Slide-Number-Placeholder-1-2">
            <a:extLst xmlns:a="http://schemas.openxmlformats.org/drawingml/2006/main">
              <a:ext uri="{FF2B5EF4-FFF2-40B4-BE49-F238E27FC236}">
                <a16:creationId xmlns:a16="http://schemas.microsoft.com/office/drawing/2014/main" id="{44B8F995-58C8-44C8-A119-1870731BFD27}"/>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Title-2-3">
            <a:extLst xmlns:a="http://schemas.openxmlformats.org/drawingml/2006/main">
              <a:ext uri="{FF2B5EF4-FFF2-40B4-BE49-F238E27FC236}">
                <a16:creationId xmlns:a16="http://schemas.microsoft.com/office/drawing/2014/main" id="{BAC37B98-A833-422E-912B-2DCE51E9A58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Arial"/>
                <a:ea typeface="Arial"/>
                <a:cs typeface="Arial"/>
              </a:rPr>
              <a:t>Mục tiêu: một hệ thống, bốn vai trò</a:t>
            </a:r>
          </a:p>
        </p:txBody>
      </p:sp>
      <p:sp>
        <p:nvSpPr>
          <p:cNvPr id="3" name="Content-Placeholder-9-4">
            <a:extLst xmlns:a="http://schemas.openxmlformats.org/drawingml/2006/main">
              <a:ext uri="{FF2B5EF4-FFF2-40B4-BE49-F238E27FC236}">
                <a16:creationId xmlns:a16="http://schemas.microsoft.com/office/drawing/2014/main" id="{2EE38A72-50C0-4CF0-BCE4-11C5C13F69CE}"/>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75" b="1">
                <a:solidFill>
                  <a:srgbClr val="3D8DFF"/>
                </a:solidFill>
                <a:latin typeface="Arial"/>
                <a:ea typeface="Arial"/>
                <a:cs typeface="Arial"/>
              </a:rPr>
              <a:t>Khách hàng</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650" b="0">
                <a:solidFill>
                  <a:srgbClr val="000000"/>
                </a:solidFill>
                <a:latin typeface="Arial"/>
                <a:ea typeface="Arial"/>
                <a:cs typeface="Arial"/>
              </a:rPr>
              <a:t>Tạo đơn, theo dõi trạng thái, vị trí tài xế và ETA.</a:t>
            </a:r>
          </a:p>
        </p:txBody>
      </p:sp>
      <p:sp>
        <p:nvSpPr>
          <p:cNvPr id="4" name="Content-Placeholder-10-5">
            <a:extLst xmlns:a="http://schemas.openxmlformats.org/drawingml/2006/main">
              <a:ext uri="{FF2B5EF4-FFF2-40B4-BE49-F238E27FC236}">
                <a16:creationId xmlns:a16="http://schemas.microsoft.com/office/drawing/2014/main" id="{9DAA2BFB-D8B2-4ECE-8377-F21497F3C4D1}"/>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75" b="1">
                <a:solidFill>
                  <a:srgbClr val="3D8DFF"/>
                </a:solidFill>
                <a:latin typeface="Arial"/>
                <a:ea typeface="Arial"/>
                <a:cs typeface="Arial"/>
              </a:rPr>
              <a:t>Tài xế</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650" b="0">
                <a:solidFill>
                  <a:srgbClr val="000000"/>
                </a:solidFill>
                <a:latin typeface="Arial"/>
                <a:ea typeface="Arial"/>
                <a:cs typeface="Arial"/>
              </a:rPr>
              <a:t>Nhận hoặc chuyển đơn, xem lộ trình và chia sẻ GPS.</a:t>
            </a:r>
          </a:p>
        </p:txBody>
      </p:sp>
      <p:sp>
        <p:nvSpPr>
          <p:cNvPr id="5" name="Content-Placeholder-9-6">
            <a:extLst xmlns:a="http://schemas.openxmlformats.org/drawingml/2006/main">
              <a:ext uri="{FF2B5EF4-FFF2-40B4-BE49-F238E27FC236}">
                <a16:creationId xmlns:a16="http://schemas.microsoft.com/office/drawing/2014/main" id="{DE9ED649-0A25-430E-9BF0-092DA1C4D9E6}"/>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75" b="1">
                <a:solidFill>
                  <a:srgbClr val="3D8DFF"/>
                </a:solidFill>
                <a:latin typeface="Arial"/>
                <a:ea typeface="Arial"/>
                <a:cs typeface="Arial"/>
              </a:rPr>
              <a:t>CSKH</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650" b="0">
                <a:solidFill>
                  <a:srgbClr val="000000"/>
                </a:solidFill>
                <a:latin typeface="Arial"/>
                <a:ea typeface="Arial"/>
                <a:cs typeface="Arial"/>
              </a:rPr>
              <a:t>Tra cứu đơn và tiếp nhận yêu cầu hỗ trợ.</a:t>
            </a:r>
          </a:p>
        </p:txBody>
      </p:sp>
      <p:sp>
        <p:nvSpPr>
          <p:cNvPr id="6" name="Content-Placeholder-10-7">
            <a:extLst xmlns:a="http://schemas.openxmlformats.org/drawingml/2006/main">
              <a:ext uri="{FF2B5EF4-FFF2-40B4-BE49-F238E27FC236}">
                <a16:creationId xmlns:a16="http://schemas.microsoft.com/office/drawing/2014/main" id="{A32CA717-DA5D-4523-95F5-FDE86F86FEB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75" b="1">
                <a:solidFill>
                  <a:srgbClr val="3D8DFF"/>
                </a:solidFill>
                <a:latin typeface="Arial"/>
                <a:ea typeface="Arial"/>
                <a:cs typeface="Arial"/>
              </a:rPr>
              <a:t>Quản trị viên</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650" b="0">
                <a:solidFill>
                  <a:srgbClr val="000000"/>
                </a:solidFill>
                <a:latin typeface="Arial"/>
                <a:ea typeface="Arial"/>
                <a:cs typeface="Arial"/>
              </a:rPr>
              <a:t>Quản lý tài khoản, tài xế và đơn hàng.</a:t>
            </a:r>
          </a:p>
        </p:txBody>
      </p:sp>
      <p:sp>
        <p:nvSpPr>
          <p:cNvPr id="7" name="accent-goal">
            <a:extLst xmlns:a="http://schemas.openxmlformats.org/drawingml/2006/main">
              <a:ext uri="{FF2B5EF4-FFF2-40B4-BE49-F238E27FC236}">
                <a16:creationId xmlns:a16="http://schemas.microsoft.com/office/drawing/2014/main" id="{0496E6EB-6662-4988-B20A-3CAB2BE750B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433274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7" name="Slide-Number-Placeholder-3-2">
            <a:extLst xmlns:a="http://schemas.openxmlformats.org/drawingml/2006/main">
              <a:ext uri="{FF2B5EF4-FFF2-40B4-BE49-F238E27FC236}">
                <a16:creationId xmlns:a16="http://schemas.microsoft.com/office/drawing/2014/main" id="{C7C3A8BA-8E9F-42A9-95F6-5C02832E579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DEE1C0DD-C266-451E-BECE-372BE12E8C2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Arial"/>
                <a:ea typeface="Arial"/>
                <a:cs typeface="Arial"/>
              </a:rPr>
              <a:t>Luồng giao hàng gồm ba giai đoạn rõ ràng</a:t>
            </a:r>
          </a:p>
        </p:txBody>
      </p:sp>
      <p:cxnSp>
        <p:nvCxnSpPr>
          <p:cNvPr id="19"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A3549A8-2007-4AD9-B4EE-FEFAE9CF6DDC}"/>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4C55311A-F7F0-40F1-AECE-6C2C4A010C35}"/>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92E1C78F-BEAA-4ECE-9C8E-21A4F0714548}"/>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2AAFF2F0-8CCB-4729-B1F1-09AC360DD76C}"/>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EA33AB21-1060-4BD7-98B0-52B512BA2F23}"/>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2100" b="1">
                <a:solidFill>
                  <a:srgbClr val="000000"/>
                </a:solidFill>
                <a:latin typeface="Arial"/>
                <a:ea typeface="Arial"/>
                <a:cs typeface="Arial"/>
              </a:rPr>
              <a:t>Tạo đơn và lọc</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75" b="0">
                <a:solidFill>
                  <a:srgbClr val="000000"/>
                </a:solidFill>
                <a:latin typeface="Arial"/>
                <a:ea typeface="Arial"/>
                <a:cs typeface="Arial"/>
              </a:rPr>
              <a:t>Khách hàng nhập điểm lấy, điểm giao. Hệ thống lọc tài xế đủ điều kiện trong bán kính 5 km.</a:t>
            </a:r>
          </a:p>
        </p:txBody>
      </p:sp>
      <p:sp>
        <p:nvSpPr>
          <p:cNvPr id="9" name="Rounded-Rectangle-21-10">
            <a:extLst xmlns:a="http://schemas.openxmlformats.org/drawingml/2006/main">
              <a:ext uri="{FF2B5EF4-FFF2-40B4-BE49-F238E27FC236}">
                <a16:creationId xmlns:a16="http://schemas.microsoft.com/office/drawing/2014/main" id="{2C405E18-1C40-4E93-A399-FFD168338DFF}"/>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A327168A-0228-4457-B564-B0577B5932D8}"/>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2100" b="1">
                <a:solidFill>
                  <a:srgbClr val="000000"/>
                </a:solidFill>
                <a:latin typeface="Arial"/>
                <a:ea typeface="Arial"/>
                <a:cs typeface="Arial"/>
              </a:rPr>
              <a:t>Đề xuất và nhận</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75" b="0">
                <a:solidFill>
                  <a:srgbClr val="000000"/>
                </a:solidFill>
                <a:latin typeface="Arial"/>
                <a:ea typeface="Arial"/>
                <a:cs typeface="Arial"/>
              </a:rPr>
              <a:t>Đề xuất theo thứ tự gần nhất. Chuyển đơn hoặc hết hạn thì thử tài xế tiếp theo.</a:t>
            </a:r>
          </a:p>
        </p:txBody>
      </p:sp>
      <p:sp>
        <p:nvSpPr>
          <p:cNvPr id="11" name="Rounded-Rectangle-23-12">
            <a:extLst xmlns:a="http://schemas.openxmlformats.org/drawingml/2006/main">
              <a:ext uri="{FF2B5EF4-FFF2-40B4-BE49-F238E27FC236}">
                <a16:creationId xmlns:a16="http://schemas.microsoft.com/office/drawing/2014/main" id="{DE25BF97-DD42-43AE-B267-52920ECCEE9F}"/>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978AEBA3-4EAE-41AA-93A4-15055782BD1B}"/>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2100" b="1">
                <a:solidFill>
                  <a:srgbClr val="000000"/>
                </a:solidFill>
                <a:latin typeface="Arial"/>
                <a:ea typeface="Arial"/>
                <a:cs typeface="Arial"/>
              </a:rPr>
              <a:t>Lấy, giao và theo dõi</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75" b="0">
                <a:solidFill>
                  <a:srgbClr val="000000"/>
                </a:solidFill>
                <a:latin typeface="Arial"/>
                <a:ea typeface="Arial"/>
                <a:cs typeface="Arial"/>
              </a:rPr>
              <a:t>Hiển thị lộ trình, cập nhật GPS và ETA cho đến khi giao hàng hoàn tất.</a:t>
            </a:r>
          </a:p>
        </p:txBody>
      </p:sp>
      <p:sp>
        <p:nvSpPr>
          <p:cNvPr id="13" name="Text-Placeholder-16-14">
            <a:extLst xmlns:a="http://schemas.openxmlformats.org/drawingml/2006/main">
              <a:ext uri="{FF2B5EF4-FFF2-40B4-BE49-F238E27FC236}">
                <a16:creationId xmlns:a16="http://schemas.microsoft.com/office/drawing/2014/main" id="{1D550F72-7059-47C9-AB5A-22974A4B69AB}"/>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75" b="1">
                <a:solidFill>
                  <a:srgbClr val="3D8DFF"/>
                </a:solidFill>
                <a:latin typeface="Arial"/>
                <a:ea typeface="Arial"/>
                <a:cs typeface="Arial"/>
              </a:rPr>
              <a:t>02  PHÂN CÔNG</a:t>
            </a:r>
          </a:p>
        </p:txBody>
      </p:sp>
      <p:sp>
        <p:nvSpPr>
          <p:cNvPr id="14" name="Text-Placeholder-16-15">
            <a:extLst xmlns:a="http://schemas.openxmlformats.org/drawingml/2006/main">
              <a:ext uri="{FF2B5EF4-FFF2-40B4-BE49-F238E27FC236}">
                <a16:creationId xmlns:a16="http://schemas.microsoft.com/office/drawing/2014/main" id="{3A932CCA-CACB-41D5-B73A-715B09644D0E}"/>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75" b="1">
                <a:solidFill>
                  <a:srgbClr val="3D8DFF"/>
                </a:solidFill>
                <a:latin typeface="Arial"/>
                <a:ea typeface="Arial"/>
                <a:cs typeface="Arial"/>
              </a:rPr>
              <a:t>01  TẠO ĐƠN</a:t>
            </a:r>
          </a:p>
        </p:txBody>
      </p:sp>
      <p:sp>
        <p:nvSpPr>
          <p:cNvPr id="15" name="Text-Placeholder-16-16">
            <a:extLst xmlns:a="http://schemas.openxmlformats.org/drawingml/2006/main">
              <a:ext uri="{FF2B5EF4-FFF2-40B4-BE49-F238E27FC236}">
                <a16:creationId xmlns:a16="http://schemas.microsoft.com/office/drawing/2014/main" id="{B68A9A95-EB60-4308-8624-1FA533D34C57}"/>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75" b="1">
                <a:solidFill>
                  <a:srgbClr val="3D8DFF"/>
                </a:solidFill>
                <a:latin typeface="Arial"/>
                <a:ea typeface="Arial"/>
                <a:cs typeface="Arial"/>
              </a:rPr>
              <a:t>03  GIAO HÀNG</a:t>
            </a:r>
          </a:p>
        </p:txBody>
      </p:sp>
      <p:sp>
        <p:nvSpPr>
          <p:cNvPr id="16" name="accent-flow">
            <a:extLst xmlns:a="http://schemas.openxmlformats.org/drawingml/2006/main">
              <a:ext uri="{FF2B5EF4-FFF2-40B4-BE49-F238E27FC236}">
                <a16:creationId xmlns:a16="http://schemas.microsoft.com/office/drawing/2014/main" id="{5DE3A1BB-17BA-408D-B386-E127B9256DB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21292930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Google-Shape-532-p58-2">
            <a:extLst xmlns:a="http://schemas.openxmlformats.org/drawingml/2006/main">
              <a:ext uri="{FF2B5EF4-FFF2-40B4-BE49-F238E27FC236}">
                <a16:creationId xmlns:a16="http://schemas.microsoft.com/office/drawing/2014/main" id="{F76830F9-6C84-4B1E-93DD-97C18BD8762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687011B4-76D3-429D-944D-9D6A778D6043}"/>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Arial"/>
                <a:ea typeface="Arial"/>
                <a:cs typeface="Arial"/>
              </a:rPr>
              <a:t>Chọn tài xế theo khoảng cách, chốt nhận ở máy chủ</a:t>
            </a:r>
          </a:p>
        </p:txBody>
      </p:sp>
      <p:sp>
        <p:nvSpPr>
          <p:cNvPr id="3" name="Rounded-Rectangle-1-4">
            <a:extLst xmlns:a="http://schemas.openxmlformats.org/drawingml/2006/main">
              <a:ext uri="{FF2B5EF4-FFF2-40B4-BE49-F238E27FC236}">
                <a16:creationId xmlns:a16="http://schemas.microsoft.com/office/drawing/2014/main" id="{B98007BF-28E0-429A-8CDA-F5C24385AB43}"/>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53E9EA2F-B29B-4DFC-A3A9-AC0F6DD45AFF}"/>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00" b="1">
                <a:solidFill>
                  <a:srgbClr val="000000"/>
                </a:solidFill>
                <a:latin typeface="Arial"/>
                <a:ea typeface="Arial"/>
                <a:cs typeface="Arial"/>
              </a:rPr>
              <a:t>Lọc ứng viên</a:t>
            </a:r>
          </a:p>
        </p:txBody>
      </p:sp>
      <p:sp>
        <p:nvSpPr>
          <p:cNvPr id="5" name="Content-Placeholder-15-6">
            <a:extLst xmlns:a="http://schemas.openxmlformats.org/drawingml/2006/main">
              <a:ext uri="{FF2B5EF4-FFF2-40B4-BE49-F238E27FC236}">
                <a16:creationId xmlns:a16="http://schemas.microsoft.com/office/drawing/2014/main" id="{0A457BA7-4AC3-47F2-827E-85BCFB34FB69}"/>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Đã được duyệt và đang sẵn sàng</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GPS còn mới, mặc định không quá 3 phút</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Chưa có đơn đang hoạt động</a:t>
            </a:r>
          </a:p>
        </p:txBody>
      </p:sp>
      <p:sp>
        <p:nvSpPr>
          <p:cNvPr id="6" name="Rounded-Rectangle-7-7">
            <a:extLst xmlns:a="http://schemas.openxmlformats.org/drawingml/2006/main">
              <a:ext uri="{FF2B5EF4-FFF2-40B4-BE49-F238E27FC236}">
                <a16:creationId xmlns:a16="http://schemas.microsoft.com/office/drawing/2014/main" id="{090F5190-A8E7-4611-B5CD-46D032876656}"/>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5656493E-0EAD-4D61-A583-E0B9A79C4EEE}"/>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00" b="1">
                <a:solidFill>
                  <a:srgbClr val="000000"/>
                </a:solidFill>
                <a:latin typeface="Arial"/>
                <a:ea typeface="Arial"/>
                <a:cs typeface="Arial"/>
              </a:rPr>
              <a:t>Chốt người nhận</a:t>
            </a:r>
          </a:p>
        </p:txBody>
      </p:sp>
      <p:sp>
        <p:nvSpPr>
          <p:cNvPr id="8" name="Content-Placeholder-15-9">
            <a:extLst xmlns:a="http://schemas.openxmlformats.org/drawingml/2006/main">
              <a:ext uri="{FF2B5EF4-FFF2-40B4-BE49-F238E27FC236}">
                <a16:creationId xmlns:a16="http://schemas.microsoft.com/office/drawing/2014/main" id="{DCC82C25-1933-45F7-84E2-6E40A286D1E2}"/>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Redis GEO ưu tiên; PostGIS làm nguồn dự phòng</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Máy chủ xử lý nguyên tử khi nhiều người cùng nhận</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Mỗi tài xế chỉ có một đơn đang hoạt động</a:t>
            </a:r>
          </a:p>
        </p:txBody>
      </p:sp>
      <p:sp>
        <p:nvSpPr>
          <p:cNvPr id="9" name="Content-Placeholder-15-10">
            <a:extLst xmlns:a="http://schemas.openxmlformats.org/drawingml/2006/main">
              <a:ext uri="{FF2B5EF4-FFF2-40B4-BE49-F238E27FC236}">
                <a16:creationId xmlns:a16="http://schemas.microsoft.com/office/drawing/2014/main" id="{6D8AAE75-AB29-4061-99CD-431205C3A34D}"/>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725" b="1">
                <a:solidFill>
                  <a:srgbClr val="3D8DFF"/>
                </a:solidFill>
                <a:latin typeface="Arial"/>
                <a:ea typeface="Arial"/>
                <a:cs typeface="Arial"/>
              </a:rPr>
              <a:t>Quy tắc MVP</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00" b="0">
                <a:solidFill>
                  <a:srgbClr val="000000"/>
                </a:solidFill>
                <a:latin typeface="Arial"/>
                <a:ea typeface="Arial"/>
                <a:cs typeface="Arial"/>
              </a:rPr>
              <a:t>Tìm trong bán kính 5 km từ điểm lấy hàng.</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00" b="0">
                <a:solidFill>
                  <a:srgbClr val="000000"/>
                </a:solidFill>
                <a:latin typeface="Arial"/>
                <a:ea typeface="Arial"/>
                <a:cs typeface="Arial"/>
              </a:rPr>
              <a:t>Xếp theo khoảng cách tăng dần; nếu bằng nhau, dùng user_id để có kết quả ổn định.</a:t>
            </a:r>
          </a:p>
        </p:txBody>
      </p:sp>
      <p:sp>
        <p:nvSpPr>
          <p:cNvPr id="10" name="accent-assignment">
            <a:extLst xmlns:a="http://schemas.openxmlformats.org/drawingml/2006/main">
              <a:ext uri="{FF2B5EF4-FFF2-40B4-BE49-F238E27FC236}">
                <a16:creationId xmlns:a16="http://schemas.microsoft.com/office/drawing/2014/main" id="{5BED4000-9224-4257-A733-7EBDC4BC793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4165257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55074DEE-0A0A-4C4D-93E5-14931409750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C64C9B77-54AB-4208-AE6E-03B7F35CCF8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Arial"/>
                <a:ea typeface="Arial"/>
                <a:cs typeface="Arial"/>
              </a:rPr>
              <a:t>GPS, tuyến đường và trạng thái cùng tạo nên ETA</a:t>
            </a:r>
          </a:p>
        </p:txBody>
      </p:sp>
      <p:cxnSp>
        <p:nvCxnSpPr>
          <p:cNvPr id="16"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E75AB866-4A27-448C-8494-3B63257938E6}"/>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9EC59D32-90CC-4036-A9FF-5858FADDCB14}"/>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D583F6C9-91DD-4945-A632-3CBDE86958C1}"/>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3E46814A-F103-4CAB-9096-968A55F908C5}"/>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25" b="1">
                <a:solidFill>
                  <a:srgbClr val="3D8DFF"/>
                </a:solidFill>
                <a:latin typeface="Arial"/>
                <a:ea typeface="Arial"/>
                <a:cs typeface="Arial"/>
              </a:rPr>
              <a:t>Mỗi 5 giây</a:t>
            </a:r>
          </a:p>
        </p:txBody>
      </p:sp>
      <p:sp>
        <p:nvSpPr>
          <p:cNvPr id="8" name="Content-Placeholder-15-9">
            <a:extLst xmlns:a="http://schemas.openxmlformats.org/drawingml/2006/main">
              <a:ext uri="{FF2B5EF4-FFF2-40B4-BE49-F238E27FC236}">
                <a16:creationId xmlns:a16="http://schemas.microsoft.com/office/drawing/2014/main" id="{413755AC-2068-4FE4-A49E-AF1053E4736C}"/>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25" b="1">
                <a:solidFill>
                  <a:srgbClr val="3D8DFF"/>
                </a:solidFill>
                <a:latin typeface="Arial"/>
                <a:ea typeface="Arial"/>
                <a:cs typeface="Arial"/>
              </a:rPr>
              <a:t>Khi vị trí đổi</a:t>
            </a:r>
          </a:p>
        </p:txBody>
      </p:sp>
      <p:sp>
        <p:nvSpPr>
          <p:cNvPr id="9" name="Content-Placeholder-15-10">
            <a:extLst xmlns:a="http://schemas.openxmlformats.org/drawingml/2006/main">
              <a:ext uri="{FF2B5EF4-FFF2-40B4-BE49-F238E27FC236}">
                <a16:creationId xmlns:a16="http://schemas.microsoft.com/office/drawing/2014/main" id="{143539E1-735A-41F3-99A3-8C25887D89A0}"/>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425" b="1">
                <a:solidFill>
                  <a:srgbClr val="3D8DFF"/>
                </a:solidFill>
                <a:latin typeface="Arial"/>
                <a:ea typeface="Arial"/>
                <a:cs typeface="Arial"/>
              </a:rPr>
              <a:t>Khi trạng thái đổi</a:t>
            </a:r>
          </a:p>
        </p:txBody>
      </p:sp>
      <p:sp>
        <p:nvSpPr>
          <p:cNvPr id="10" name="Text-Placeholder-16-11">
            <a:extLst xmlns:a="http://schemas.openxmlformats.org/drawingml/2006/main">
              <a:ext uri="{FF2B5EF4-FFF2-40B4-BE49-F238E27FC236}">
                <a16:creationId xmlns:a16="http://schemas.microsoft.com/office/drawing/2014/main" id="{50D83B6F-D4F2-466C-A2E3-456E62694823}"/>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025" b="1">
                <a:solidFill>
                  <a:srgbClr val="000000"/>
                </a:solidFill>
                <a:latin typeface="Arial"/>
                <a:ea typeface="Arial"/>
                <a:cs typeface="Arial"/>
              </a:rPr>
              <a:t>OSRM</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Arial"/>
                <a:ea typeface="Arial"/>
                <a:cs typeface="Arial"/>
              </a:rPr>
              <a:t>Tính tuyến đường, quãng đường và thời lượng di chuyển.</a:t>
            </a:r>
          </a:p>
        </p:txBody>
      </p:sp>
      <p:sp>
        <p:nvSpPr>
          <p:cNvPr id="11" name="Text-Placeholder-16-12">
            <a:extLst xmlns:a="http://schemas.openxmlformats.org/drawingml/2006/main">
              <a:ext uri="{FF2B5EF4-FFF2-40B4-BE49-F238E27FC236}">
                <a16:creationId xmlns:a16="http://schemas.microsoft.com/office/drawing/2014/main" id="{3751F726-29F1-4A1A-89FD-AC69867840B0}"/>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025" b="1">
                <a:solidFill>
                  <a:srgbClr val="000000"/>
                </a:solidFill>
                <a:latin typeface="Arial"/>
                <a:ea typeface="Arial"/>
                <a:cs typeface="Arial"/>
              </a:rPr>
              <a:t>GPS</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Arial"/>
                <a:ea typeface="Arial"/>
                <a:cs typeface="Arial"/>
              </a:rPr>
              <a:t>Tài xế gửi tọa độ; khách hàng nhận cập nhật qua Realtime.</a:t>
            </a:r>
          </a:p>
        </p:txBody>
      </p:sp>
      <p:sp>
        <p:nvSpPr>
          <p:cNvPr id="12" name="Text-Placeholder-16-13">
            <a:extLst xmlns:a="http://schemas.openxmlformats.org/drawingml/2006/main">
              <a:ext uri="{FF2B5EF4-FFF2-40B4-BE49-F238E27FC236}">
                <a16:creationId xmlns:a16="http://schemas.microsoft.com/office/drawing/2014/main" id="{696FE7E9-E38C-469C-9AD6-896D06DFEDB5}"/>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025" b="1">
                <a:solidFill>
                  <a:srgbClr val="000000"/>
                </a:solidFill>
                <a:latin typeface="Arial"/>
                <a:ea typeface="Arial"/>
                <a:cs typeface="Arial"/>
              </a:rPr>
              <a:t>ETA</a:t>
            </a:r>
          </a:p>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500" b="0">
                <a:solidFill>
                  <a:srgbClr val="000000"/>
                </a:solidFill>
                <a:latin typeface="Arial"/>
                <a:ea typeface="Arial"/>
                <a:cs typeface="Arial"/>
              </a:rPr>
              <a:t>Thời lượng tuyến + GPS + trạng thái + thời gian đệm.</a:t>
            </a:r>
          </a:p>
        </p:txBody>
      </p:sp>
      <p:sp>
        <p:nvSpPr>
          <p:cNvPr id="13" name="accent-eta">
            <a:extLst xmlns:a="http://schemas.openxmlformats.org/drawingml/2006/main">
              <a:ext uri="{FF2B5EF4-FFF2-40B4-BE49-F238E27FC236}">
                <a16:creationId xmlns:a16="http://schemas.microsoft.com/office/drawing/2014/main" id="{3E941A71-A6B2-4F75-9D5F-7617C440FDF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280869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Google-Shape-532-p58-2">
            <a:extLst xmlns:a="http://schemas.openxmlformats.org/drawingml/2006/main">
              <a:ext uri="{FF2B5EF4-FFF2-40B4-BE49-F238E27FC236}">
                <a16:creationId xmlns:a16="http://schemas.microsoft.com/office/drawing/2014/main" id="{E67E18C9-41AF-46EA-96E6-F1758CEFD90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6ABCA731-6B6E-44EE-9E42-030529F99267}"/>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2850" b="1">
                <a:solidFill>
                  <a:srgbClr val="000000"/>
                </a:solidFill>
                <a:latin typeface="Arial"/>
                <a:ea typeface="Arial"/>
                <a:cs typeface="Arial"/>
              </a:rPr>
              <a:t>Phạm vi: nguyên mẫu end-to-end, chưa triển khai thương mại</a:t>
            </a:r>
          </a:p>
        </p:txBody>
      </p:sp>
      <p:sp>
        <p:nvSpPr>
          <p:cNvPr id="3" name="Rounded-Rectangle-1-4">
            <a:extLst xmlns:a="http://schemas.openxmlformats.org/drawingml/2006/main">
              <a:ext uri="{FF2B5EF4-FFF2-40B4-BE49-F238E27FC236}">
                <a16:creationId xmlns:a16="http://schemas.microsoft.com/office/drawing/2014/main" id="{0DB76C9A-A572-4790-892D-56DD368945E7}"/>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0E8AD0C6-6DC5-4C57-9CAA-1DB21A30EEB6}"/>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00" b="1">
                <a:solidFill>
                  <a:srgbClr val="000000"/>
                </a:solidFill>
                <a:latin typeface="Arial"/>
                <a:ea typeface="Arial"/>
                <a:cs typeface="Arial"/>
              </a:rPr>
              <a:t>Trong phạm vi</a:t>
            </a:r>
          </a:p>
        </p:txBody>
      </p:sp>
      <p:sp>
        <p:nvSpPr>
          <p:cNvPr id="5" name="Content-Placeholder-15-6">
            <a:extLst xmlns:a="http://schemas.openxmlformats.org/drawingml/2006/main">
              <a:ext uri="{FF2B5EF4-FFF2-40B4-BE49-F238E27FC236}">
                <a16:creationId xmlns:a16="http://schemas.microsoft.com/office/drawing/2014/main" id="{5E77E754-87F6-440C-BFDA-1FAD2F66EDCD}"/>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Tạo đơn, phân công, nhận hoặc chuyển đơn</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Theo dõi GPS, lộ trình, ETA, hoàn thành đơn</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Tra cứu và tiếp nhận yêu cầu CSKH</a:t>
            </a:r>
          </a:p>
        </p:txBody>
      </p:sp>
      <p:sp>
        <p:nvSpPr>
          <p:cNvPr id="6" name="Rounded-Rectangle-7-7">
            <a:extLst xmlns:a="http://schemas.openxmlformats.org/drawingml/2006/main">
              <a:ext uri="{FF2B5EF4-FFF2-40B4-BE49-F238E27FC236}">
                <a16:creationId xmlns:a16="http://schemas.microsoft.com/office/drawing/2014/main" id="{19F64B99-6E65-48F2-93C6-223A0A0D139C}"/>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39E468F6-A142-452F-8BD5-B0E17EBD824E}"/>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2100" b="1">
                <a:solidFill>
                  <a:srgbClr val="000000"/>
                </a:solidFill>
                <a:latin typeface="Arial"/>
                <a:ea typeface="Arial"/>
                <a:cs typeface="Arial"/>
              </a:rPr>
              <a:t>Ngoài phạm vi</a:t>
            </a:r>
          </a:p>
        </p:txBody>
      </p:sp>
      <p:sp>
        <p:nvSpPr>
          <p:cNvPr id="8" name="Content-Placeholder-15-9">
            <a:extLst xmlns:a="http://schemas.openxmlformats.org/drawingml/2006/main">
              <a:ext uri="{FF2B5EF4-FFF2-40B4-BE49-F238E27FC236}">
                <a16:creationId xmlns:a16="http://schemas.microsoft.com/office/drawing/2014/main" id="{B6F7FD9B-F54F-4407-A4D5-0CF193468E14}"/>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Thanh toán, hoàn tiền, khiếu nại tài chính</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Giao nhiều đơn đồng thời và VRP</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Triển khai thương mại quy mô lớn</a:t>
            </a:r>
          </a:p>
        </p:txBody>
      </p:sp>
      <p:sp>
        <p:nvSpPr>
          <p:cNvPr id="9" name="Content-Placeholder-15-10">
            <a:extLst xmlns:a="http://schemas.openxmlformats.org/drawingml/2006/main">
              <a:ext uri="{FF2B5EF4-FFF2-40B4-BE49-F238E27FC236}">
                <a16:creationId xmlns:a16="http://schemas.microsoft.com/office/drawing/2014/main" id="{DAD32261-492D-4F88-BA0F-30BE5996ED95}"/>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725" b="1">
                <a:solidFill>
                  <a:srgbClr val="3D8DFF"/>
                </a:solidFill>
                <a:latin typeface="Arial"/>
                <a:ea typeface="Arial"/>
                <a:cs typeface="Arial"/>
              </a:rPr>
              <a:t>Kiến trúc monorepo</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00" b="0">
                <a:solidFill>
                  <a:srgbClr val="000000"/>
                </a:solidFill>
                <a:latin typeface="Arial"/>
                <a:ea typeface="Arial"/>
                <a:cs typeface="Arial"/>
              </a:rPr>
              <a:t>Delivery App cho Khách hàng + Tài xế; Operations Web cho CSKH + Admin.</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500" b="0">
                <a:solidFill>
                  <a:srgbClr val="000000"/>
                </a:solidFill>
                <a:latin typeface="Arial"/>
                <a:ea typeface="Arial"/>
                <a:cs typeface="Arial"/>
              </a:rPr>
              <a:t>Hai ứng dụng dùng chung dịch vụ phía máy chủ và cơ sở dữ liệu.</a:t>
            </a:r>
          </a:p>
        </p:txBody>
      </p:sp>
      <p:sp>
        <p:nvSpPr>
          <p:cNvPr id="10" name="accent-scope">
            <a:extLst xmlns:a="http://schemas.openxmlformats.org/drawingml/2006/main">
              <a:ext uri="{FF2B5EF4-FFF2-40B4-BE49-F238E27FC236}">
                <a16:creationId xmlns:a16="http://schemas.microsoft.com/office/drawing/2014/main" id="{64FE2A68-DD68-47E4-9DE3-F73D6A03671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13970403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2" name="Slide-Number-Placeholder-3-2">
            <a:extLst xmlns:a="http://schemas.openxmlformats.org/drawingml/2006/main">
              <a:ext uri="{FF2B5EF4-FFF2-40B4-BE49-F238E27FC236}">
                <a16:creationId xmlns:a16="http://schemas.microsoft.com/office/drawing/2014/main" id="{A683486F-2906-4F54-BDAE-F1E1B419090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CE445386-F381-48B7-96E1-033C39EE4FC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spcAft>
                <a:spcPts val="700"/>
              </a:spcAft>
              <a:buNone/>
              <a:defRPr sz="2900">
                <a:solidFill>
                  <a:srgbClr val="000000"/>
                </a:solidFill>
                <a:latin typeface="Helvetica Neue"/>
                <a:ea typeface="Helvetica Neue"/>
                <a:cs typeface="Helvetica Neue"/>
              </a:defRPr>
            </a:pPr>
            <a:r>
              <a:rPr sz="3000" b="1">
                <a:solidFill>
                  <a:srgbClr val="000000"/>
                </a:solidFill>
                <a:latin typeface="Arial"/>
                <a:ea typeface="Arial"/>
                <a:cs typeface="Arial"/>
              </a:rPr>
              <a:t>Phương pháp nghiên cứu và công nghệ dự kiến</a:t>
            </a:r>
          </a:p>
        </p:txBody>
      </p:sp>
      <p:sp>
        <p:nvSpPr>
          <p:cNvPr id="3" name="Content-Placeholder-15-4">
            <a:extLst xmlns:a="http://schemas.openxmlformats.org/drawingml/2006/main">
              <a:ext uri="{FF2B5EF4-FFF2-40B4-BE49-F238E27FC236}">
                <a16:creationId xmlns:a16="http://schemas.microsoft.com/office/drawing/2014/main" id="{37149206-6ABB-42F5-AB5B-C67377221A19}"/>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650" b="1">
                <a:solidFill>
                  <a:srgbClr val="3D8DFF"/>
                </a:solidFill>
                <a:latin typeface="Arial"/>
                <a:ea typeface="Arial"/>
                <a:cs typeface="Arial"/>
              </a:rPr>
              <a:t>Flutter</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Hai ứng dụng dùng Dart, Riverpod và GoRouter.</a:t>
            </a:r>
          </a:p>
        </p:txBody>
      </p:sp>
      <p:sp>
        <p:nvSpPr>
          <p:cNvPr id="4" name="Text-Placeholder-16-5">
            <a:extLst xmlns:a="http://schemas.openxmlformats.org/drawingml/2006/main">
              <a:ext uri="{FF2B5EF4-FFF2-40B4-BE49-F238E27FC236}">
                <a16:creationId xmlns:a16="http://schemas.microsoft.com/office/drawing/2014/main" id="{A95A0084-7262-4C92-8FE0-1FD5BA9A1B71}"/>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650" b="1">
                <a:solidFill>
                  <a:srgbClr val="3D8DFF"/>
                </a:solidFill>
                <a:latin typeface="Arial"/>
                <a:ea typeface="Arial"/>
                <a:cs typeface="Arial"/>
              </a:rPr>
              <a:t>Supabase</a:t>
            </a:r>
          </a:p>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388" b="0">
                <a:solidFill>
                  <a:srgbClr val="000000"/>
                </a:solidFill>
                <a:latin typeface="Arial"/>
                <a:ea typeface="Arial"/>
                <a:cs typeface="Arial"/>
              </a:rPr>
              <a:t>Auth, PostgreSQL, Realtime và nghiệp vụ máy chủ.</a:t>
            </a:r>
          </a:p>
        </p:txBody>
      </p:sp>
      <p:sp>
        <p:nvSpPr>
          <p:cNvPr id="5" name="Content-Placeholder-17-6">
            <a:extLst xmlns:a="http://schemas.openxmlformats.org/drawingml/2006/main">
              <a:ext uri="{FF2B5EF4-FFF2-40B4-BE49-F238E27FC236}">
                <a16:creationId xmlns:a16="http://schemas.microsoft.com/office/drawing/2014/main" id="{55DA7A66-66DB-4B30-BBA6-04C20A8E1F57}"/>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650" b="1">
                <a:solidFill>
                  <a:srgbClr val="3D8DFF"/>
                </a:solidFill>
                <a:latin typeface="Arial"/>
                <a:ea typeface="Arial"/>
                <a:cs typeface="Arial"/>
              </a:rPr>
              <a:t>Bản đồ</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OpenStreetMap, flutter_map và Geolocator.</a:t>
            </a:r>
          </a:p>
        </p:txBody>
      </p:sp>
      <p:sp>
        <p:nvSpPr>
          <p:cNvPr id="6" name="Text-Placeholder-18-7">
            <a:extLst xmlns:a="http://schemas.openxmlformats.org/drawingml/2006/main">
              <a:ext uri="{FF2B5EF4-FFF2-40B4-BE49-F238E27FC236}">
                <a16:creationId xmlns:a16="http://schemas.microsoft.com/office/drawing/2014/main" id="{FAFDBE7E-A41E-4EC2-B95F-5DC94BD4D7A1}"/>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650" b="1">
                <a:solidFill>
                  <a:srgbClr val="3D8DFF"/>
                </a:solidFill>
                <a:latin typeface="Arial"/>
                <a:ea typeface="Arial"/>
                <a:cs typeface="Arial"/>
              </a:rPr>
              <a:t>Không gian</a:t>
            </a:r>
          </a:p>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388" b="0">
                <a:solidFill>
                  <a:srgbClr val="000000"/>
                </a:solidFill>
                <a:latin typeface="Arial"/>
                <a:ea typeface="Arial"/>
                <a:cs typeface="Arial"/>
              </a:rPr>
              <a:t>PostGIS tìm gần; OSRM tính route và thời lượng.</a:t>
            </a:r>
          </a:p>
        </p:txBody>
      </p:sp>
      <p:sp>
        <p:nvSpPr>
          <p:cNvPr id="7" name="Content-Placeholder-15-8">
            <a:extLst xmlns:a="http://schemas.openxmlformats.org/drawingml/2006/main">
              <a:ext uri="{FF2B5EF4-FFF2-40B4-BE49-F238E27FC236}">
                <a16:creationId xmlns:a16="http://schemas.microsoft.com/office/drawing/2014/main" id="{FDC795DD-A741-4B6D-A3D1-82BCD0191E6E}"/>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650" b="1">
                <a:solidFill>
                  <a:srgbClr val="3D8DFF"/>
                </a:solidFill>
                <a:latin typeface="Arial"/>
                <a:ea typeface="Arial"/>
                <a:cs typeface="Arial"/>
              </a:rPr>
              <a:t>Khảo sát</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Quy trình giao hàng và nhu cầu của bốn vai trò.</a:t>
            </a:r>
          </a:p>
        </p:txBody>
      </p:sp>
      <p:sp>
        <p:nvSpPr>
          <p:cNvPr id="8" name="Text-Placeholder-16-9">
            <a:extLst xmlns:a="http://schemas.openxmlformats.org/drawingml/2006/main">
              <a:ext uri="{FF2B5EF4-FFF2-40B4-BE49-F238E27FC236}">
                <a16:creationId xmlns:a16="http://schemas.microsoft.com/office/drawing/2014/main" id="{2DE87B89-A4B6-461F-9941-A99AC052C57A}"/>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650" b="1">
                <a:solidFill>
                  <a:srgbClr val="3D8DFF"/>
                </a:solidFill>
                <a:latin typeface="Arial"/>
                <a:ea typeface="Arial"/>
                <a:cs typeface="Arial"/>
              </a:rPr>
              <a:t>Phân tích</a:t>
            </a:r>
          </a:p>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388" b="0">
                <a:solidFill>
                  <a:srgbClr val="000000"/>
                </a:solidFill>
                <a:latin typeface="Arial"/>
                <a:ea typeface="Arial"/>
                <a:cs typeface="Arial"/>
              </a:rPr>
              <a:t>Yêu cầu, phân quyền và trạng thái đơn hàng.</a:t>
            </a:r>
          </a:p>
        </p:txBody>
      </p:sp>
      <p:sp>
        <p:nvSpPr>
          <p:cNvPr id="9" name="Content-Placeholder-17-10">
            <a:extLst xmlns:a="http://schemas.openxmlformats.org/drawingml/2006/main">
              <a:ext uri="{FF2B5EF4-FFF2-40B4-BE49-F238E27FC236}">
                <a16:creationId xmlns:a16="http://schemas.microsoft.com/office/drawing/2014/main" id="{9F2BDBBC-6FEA-4901-90F8-DBA1BA3034B2}"/>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650" b="1">
                <a:solidFill>
                  <a:srgbClr val="3D8DFF"/>
                </a:solidFill>
                <a:latin typeface="Arial"/>
                <a:ea typeface="Arial"/>
                <a:cs typeface="Arial"/>
              </a:rPr>
              <a:t>Thiết kế</a:t>
            </a:r>
          </a:p>
          <a:p xmlns:a="http://schemas.openxmlformats.org/drawingml/2006/main">
            <a:pPr algn="l">
              <a:lnSpc>
                <a:spcPct val="108000"/>
              </a:lnSpc>
              <a:spcAft>
                <a:spcPts val="700"/>
              </a:spcAft>
              <a:buNone/>
              <a:defRPr sz="1600">
                <a:solidFill>
                  <a:srgbClr val="000000"/>
                </a:solidFill>
                <a:latin typeface="Helvetica Neue"/>
                <a:ea typeface="Helvetica Neue"/>
                <a:cs typeface="Helvetica Neue"/>
              </a:defRPr>
            </a:pPr>
            <a:r>
              <a:rPr sz="1388" b="0">
                <a:solidFill>
                  <a:srgbClr val="000000"/>
                </a:solidFill>
                <a:latin typeface="Arial"/>
                <a:ea typeface="Arial"/>
                <a:cs typeface="Arial"/>
              </a:rPr>
              <a:t>Kiến trúc, dữ liệu và luồng nghiệp vụ.</a:t>
            </a:r>
          </a:p>
        </p:txBody>
      </p:sp>
      <p:sp>
        <p:nvSpPr>
          <p:cNvPr id="10" name="Text-Placeholder-18-11">
            <a:extLst xmlns:a="http://schemas.openxmlformats.org/drawingml/2006/main">
              <a:ext uri="{FF2B5EF4-FFF2-40B4-BE49-F238E27FC236}">
                <a16:creationId xmlns:a16="http://schemas.microsoft.com/office/drawing/2014/main" id="{EC383544-BFF2-4A1F-AAD2-A8454938D14B}"/>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650" b="1">
                <a:solidFill>
                  <a:srgbClr val="3D8DFF"/>
                </a:solidFill>
                <a:latin typeface="Arial"/>
                <a:ea typeface="Arial"/>
                <a:cs typeface="Arial"/>
              </a:rPr>
              <a:t>Đánh giá</a:t>
            </a:r>
          </a:p>
          <a:p xmlns:a="http://schemas.openxmlformats.org/drawingml/2006/main">
            <a:pPr algn="l">
              <a:lnSpc>
                <a:spcPct val="108000"/>
              </a:lnSpc>
              <a:spcAft>
                <a:spcPts val="700"/>
              </a:spcAft>
              <a:buNone/>
              <a:defRPr sz="1800">
                <a:solidFill>
                  <a:srgbClr val="000000"/>
                </a:solidFill>
                <a:latin typeface="Helvetica Neue"/>
                <a:ea typeface="Helvetica Neue"/>
                <a:cs typeface="Helvetica Neue"/>
              </a:defRPr>
            </a:pPr>
            <a:r>
              <a:rPr sz="1388" b="0">
                <a:solidFill>
                  <a:srgbClr val="000000"/>
                </a:solidFill>
                <a:latin typeface="Arial"/>
                <a:ea typeface="Arial"/>
                <a:cs typeface="Arial"/>
              </a:rPr>
              <a:t>Kiểm thử chức năng, tích hợp và đối chiếu ETA.</a:t>
            </a:r>
          </a:p>
        </p:txBody>
      </p:sp>
      <p:sp>
        <p:nvSpPr>
          <p:cNvPr id="11" name="accent-method-tech">
            <a:extLst xmlns:a="http://schemas.openxmlformats.org/drawingml/2006/main">
              <a:ext uri="{FF2B5EF4-FFF2-40B4-BE49-F238E27FC236}">
                <a16:creationId xmlns:a16="http://schemas.microsoft.com/office/drawing/2014/main" id="{05ED6802-3932-4EA5-8BBA-664BFFAC6B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9914661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1A9CF2E4-F4D9-43EA-A519-034D4B6C2F58}"/>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8000"/>
              </a:lnSpc>
              <a:spcAft>
                <a:spcPts val="700"/>
              </a:spcAft>
              <a:buNone/>
              <a:defRPr sz="6000">
                <a:solidFill>
                  <a:srgbClr val="000000"/>
                </a:solidFill>
                <a:latin typeface="Helvetica Neue"/>
                <a:ea typeface="Helvetica Neue"/>
                <a:cs typeface="Helvetica Neue"/>
              </a:defRPr>
            </a:pPr>
            <a:r>
              <a:rPr sz="5100" b="1">
                <a:solidFill>
                  <a:srgbClr val="000000"/>
                </a:solidFill>
                <a:latin typeface="Arial"/>
                <a:ea typeface="Arial"/>
                <a:cs typeface="Arial"/>
              </a:rPr>
              <a:t>Sản phẩm dự kiến</a:t>
            </a:r>
          </a:p>
        </p:txBody>
      </p:sp>
      <p:sp>
        <p:nvSpPr>
          <p:cNvPr id="2" name="Subtitle-4-2">
            <a:extLst xmlns:a="http://schemas.openxmlformats.org/drawingml/2006/main">
              <a:ext uri="{FF2B5EF4-FFF2-40B4-BE49-F238E27FC236}">
                <a16:creationId xmlns:a16="http://schemas.microsoft.com/office/drawing/2014/main" id="{53C9284D-000B-4524-B62A-F77076DB291D}"/>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150"/>
              </a:spcAft>
              <a:buNone/>
              <a:defRPr sz="2400">
                <a:solidFill>
                  <a:srgbClr val="000000"/>
                </a:solidFill>
                <a:latin typeface="Helvetica Neue"/>
                <a:ea typeface="Helvetica Neue"/>
                <a:cs typeface="Helvetica Neue"/>
              </a:defRPr>
            </a:pPr>
            <a:r>
              <a:rPr sz="1575" b="1">
                <a:solidFill>
                  <a:srgbClr val="000000"/>
                </a:solidFill>
                <a:latin typeface="Arial"/>
                <a:ea typeface="Arial"/>
                <a:cs typeface="Arial"/>
              </a:rPr>
              <a:t>01  Delivery App: Khách hàng + Tài xế</a:t>
            </a:r>
          </a:p>
          <a:p xmlns:a="http://schemas.openxmlformats.org/drawingml/2006/main">
            <a:pPr algn="l">
              <a:lnSpc>
                <a:spcPct val="108000"/>
              </a:lnSpc>
              <a:spcAft>
                <a:spcPts val="150"/>
              </a:spcAft>
              <a:buNone/>
              <a:defRPr sz="2400">
                <a:solidFill>
                  <a:srgbClr val="000000"/>
                </a:solidFill>
                <a:latin typeface="Helvetica Neue"/>
                <a:ea typeface="Helvetica Neue"/>
                <a:cs typeface="Helvetica Neue"/>
              </a:defRPr>
            </a:pPr>
            <a:r>
              <a:rPr sz="1575" b="1">
                <a:solidFill>
                  <a:srgbClr val="000000"/>
                </a:solidFill>
                <a:latin typeface="Arial"/>
                <a:ea typeface="Arial"/>
                <a:cs typeface="Arial"/>
              </a:rPr>
              <a:t>02  Operations Web: CSKH + Quản trị</a:t>
            </a:r>
          </a:p>
          <a:p xmlns:a="http://schemas.openxmlformats.org/drawingml/2006/main">
            <a:pPr algn="l">
              <a:lnSpc>
                <a:spcPct val="108000"/>
              </a:lnSpc>
              <a:spcAft>
                <a:spcPts val="0"/>
              </a:spcAft>
              <a:buNone/>
              <a:defRPr sz="2400">
                <a:solidFill>
                  <a:srgbClr val="000000"/>
                </a:solidFill>
                <a:latin typeface="Helvetica Neue"/>
                <a:ea typeface="Helvetica Neue"/>
                <a:cs typeface="Helvetica Neue"/>
              </a:defRPr>
            </a:pPr>
            <a:r>
              <a:rPr sz="1575" b="1">
                <a:solidFill>
                  <a:srgbClr val="000000"/>
                </a:solidFill>
                <a:latin typeface="Arial"/>
                <a:ea typeface="Arial"/>
                <a:cs typeface="Arial"/>
              </a:rPr>
              <a:t>03  Backend, kiểm thử và báo cáo</a:t>
            </a:r>
          </a:p>
        </p:txBody>
      </p:sp>
      <p:sp>
        <p:nvSpPr>
          <p:cNvPr id="3" name="Subtitle-4-3">
            <a:extLst xmlns:a="http://schemas.openxmlformats.org/drawingml/2006/main">
              <a:ext uri="{FF2B5EF4-FFF2-40B4-BE49-F238E27FC236}">
                <a16:creationId xmlns:a16="http://schemas.microsoft.com/office/drawing/2014/main" id="{953038FD-5113-4481-B8DC-55441B05D0E2}"/>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700"/>
              </a:spcAft>
              <a:buNone/>
              <a:defRPr sz="2400">
                <a:solidFill>
                  <a:srgbClr val="000000"/>
                </a:solidFill>
                <a:latin typeface="Helvetica Neue"/>
                <a:ea typeface="Helvetica Neue"/>
                <a:cs typeface="Helvetica Neue"/>
              </a:defRPr>
            </a:pPr>
            <a:r>
              <a:rPr sz="1800" b="1">
                <a:solidFill>
                  <a:srgbClr val="3D8DFF"/>
                </a:solidFill>
                <a:latin typeface="Arial"/>
                <a:ea typeface="Arial"/>
                <a:cs typeface="Arial"/>
              </a:rPr>
              <a:t>KẾT QUẢ</a:t>
            </a:r>
          </a:p>
        </p:txBody>
      </p:sp>
      <p:sp>
        <p:nvSpPr>
          <p:cNvPr id="4" name="accent-output">
            <a:extLst xmlns:a="http://schemas.openxmlformats.org/drawingml/2006/main">
              <a:ext uri="{FF2B5EF4-FFF2-40B4-BE49-F238E27FC236}">
                <a16:creationId xmlns:a16="http://schemas.microsoft.com/office/drawing/2014/main" id="{653168F1-8FB7-4590-8876-7043E04AD4D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1916203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2026-08-06T13:57:19.6740000Z</dcterms:created>
  <dcterms:modified xsi:type="dcterms:W3CDTF">2026-08-06T13:57:19.6740000Z</dcterms:modified>
</coreProperties>
</file>